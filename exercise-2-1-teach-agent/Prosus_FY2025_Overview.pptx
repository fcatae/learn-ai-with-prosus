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914400" cy="5143500"/>
          </a:xfrm>
          <a:prstGeom prst="rect">
            <a:avLst/>
          </a:prstGeom>
          <a:solidFill>
            <a:srgbClr val="1136A8"/>
          </a:solidFill>
          <a:ln w="12700">
            <a:solidFill>
              <a:srgbClr val="1136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303520" cy="64008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pic>
        <p:nvPicPr>
          <p:cNvPr id="5" name="Image 0" descr="/Users/fcatae/exercise-2-1-teach-agent/pros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"/>
            <a:ext cx="1280160" cy="3431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005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PROSUS N.V.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CDA2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FY2025 Annual Report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2212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4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Management Overview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606040"/>
            <a:ext cx="2926080" cy="41148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697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D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Year ended 31 March 2025  ·  All figures in USD unless stated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14416" y="950976"/>
            <a:ext cx="1572768" cy="12344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914400"/>
            <a:ext cx="1572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914400"/>
            <a:ext cx="1572768" cy="50292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10515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5EDC"/>
                </a:solidFill>
              </a:rPr>
              <a:t>$6.2bn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Revenue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+21% local currency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306056" y="950976"/>
            <a:ext cx="1572768" cy="12344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914400"/>
            <a:ext cx="1572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69480" y="914400"/>
            <a:ext cx="1572768" cy="50292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105156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C8E"/>
                </a:solidFill>
              </a:rPr>
              <a:t>$179m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Group aEBIT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+100% year-on-year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614416" y="2414016"/>
            <a:ext cx="1572768" cy="12344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0" y="2377440"/>
            <a:ext cx="1572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0" y="2377440"/>
            <a:ext cx="1572768" cy="50292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251460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0276"/>
                </a:solidFill>
              </a:rPr>
              <a:t>$7.4bn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Core Headline Earnings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+47% year-on-year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306056" y="2414016"/>
            <a:ext cx="1572768" cy="1234440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69480" y="2377440"/>
            <a:ext cx="157276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69480" y="2377440"/>
            <a:ext cx="1572768" cy="50292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2514600"/>
            <a:ext cx="129844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B828"/>
                </a:solidFill>
              </a:rPr>
              <a:t>$1.0bn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Free Cash Flow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vs $422m in FY24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7045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CEO: Fabricio Bloisi   ·   CFO: Nico Marais   ·   Chair: Koos Bekker   ·   Euronext Amsterdam  ·  JSE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5836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pic>
        <p:nvPicPr>
          <p:cNvPr id="4" name="Image 0" descr="/Users/fcatae/exercise-2-1-teach-agent/pros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"/>
            <a:ext cx="1280160" cy="3431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Financial Performance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7472" y="43891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4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FY2025 · Year ended 31 March 2025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804672"/>
            <a:ext cx="4206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60350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GROUP aEBIT TRAJECTORY  (US$M)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47472" y="1879092"/>
            <a:ext cx="4206240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026" y="1879092"/>
            <a:ext cx="658368" cy="983766"/>
          </a:xfrm>
          <a:prstGeom prst="rect">
            <a:avLst/>
          </a:prstGeom>
          <a:solidFill>
            <a:srgbClr val="AF015F"/>
          </a:solidFill>
          <a:ln w="12700">
            <a:solidFill>
              <a:srgbClr val="AF01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026" y="289029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F015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-586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62026" y="167792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634947" y="1879092"/>
            <a:ext cx="658368" cy="901506"/>
          </a:xfrm>
          <a:prstGeom prst="rect">
            <a:avLst/>
          </a:prstGeom>
          <a:solidFill>
            <a:srgbClr val="AF015F"/>
          </a:solidFill>
          <a:ln w="12700">
            <a:solidFill>
              <a:srgbClr val="AF01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34947" y="280803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F015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-537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634947" y="167792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607869" y="1879092"/>
            <a:ext cx="658368" cy="198096"/>
          </a:xfrm>
          <a:prstGeom prst="rect">
            <a:avLst/>
          </a:prstGeom>
          <a:solidFill>
            <a:srgbClr val="AF015F"/>
          </a:solidFill>
          <a:ln w="12700">
            <a:solidFill>
              <a:srgbClr val="AF01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7869" y="21046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F015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-118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607869" y="1677924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FY24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580790" y="1578590"/>
            <a:ext cx="658368" cy="300502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80790" y="137742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C8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179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580790" y="1915668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28032" y="60350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REVENUE MIX  (US$6.2BN)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828032" y="804672"/>
            <a:ext cx="40233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02352" y="1024128"/>
            <a:ext cx="1320394" cy="201168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02352" y="9692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Etail (goods)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514186" y="10149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0F7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$2.3bn  (38%)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02352" y="1408176"/>
            <a:ext cx="729691" cy="20116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02352" y="135331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Payments &amp; Fintech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923483" y="1399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5ED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$1.3bn  (21%)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102352" y="1792224"/>
            <a:ext cx="694944" cy="201168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02352" y="173736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Food Delivery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888736" y="17830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C8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$1.3bn  (20%)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102352" y="2176272"/>
            <a:ext cx="416966" cy="201168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02352" y="212140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Classifieds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610758" y="21671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B82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$717m  (12%)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102352" y="2560320"/>
            <a:ext cx="312725" cy="201168"/>
          </a:xfrm>
          <a:prstGeom prst="rect">
            <a:avLst/>
          </a:prstGeom>
          <a:solidFill>
            <a:srgbClr val="7729E0"/>
          </a:solidFill>
          <a:ln w="12700">
            <a:solidFill>
              <a:srgbClr val="7729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02352" y="250545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F3F3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Other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506517" y="25511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29E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$0.6bn  (9%)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84048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7472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7472" y="3090672"/>
            <a:ext cx="1609344" cy="50292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4632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5EDC"/>
                </a:solidFill>
              </a:rPr>
              <a:t>+13%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Revenue Growth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+21% local currency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2103120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066544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066544" y="3090672"/>
            <a:ext cx="1609344" cy="50292"/>
          </a:xfrm>
          <a:prstGeom prst="rect">
            <a:avLst/>
          </a:prstGeom>
          <a:solidFill>
            <a:srgbClr val="3F3F3F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203704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F3F3F"/>
                </a:solidFill>
              </a:rPr>
              <a:t>$2.5bn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SG&amp;A Costs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Staff costs +1% only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3822192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785616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785616" y="3090672"/>
            <a:ext cx="1609344" cy="50292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922776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AC8E"/>
                </a:solidFill>
              </a:rPr>
              <a:t>$2.6bn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Net Cash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FCF $1.0bn</a:t>
            </a:r>
            <a:endParaRPr lang="en-US" sz="2200" dirty="0"/>
          </a:p>
        </p:txBody>
      </p:sp>
      <p:sp>
        <p:nvSpPr>
          <p:cNvPr id="51" name="Shape 48"/>
          <p:cNvSpPr/>
          <p:nvPr/>
        </p:nvSpPr>
        <p:spPr>
          <a:xfrm>
            <a:off x="5541264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504688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504688" y="3090672"/>
            <a:ext cx="1609344" cy="50292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641848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B828"/>
                </a:solidFill>
              </a:rPr>
              <a:t>€0.20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Dividend/share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+100% YoY increase</a:t>
            </a:r>
            <a:endParaRPr lang="en-US" sz="2200" dirty="0"/>
          </a:p>
        </p:txBody>
      </p:sp>
      <p:sp>
        <p:nvSpPr>
          <p:cNvPr id="55" name="Shape 52"/>
          <p:cNvSpPr/>
          <p:nvPr/>
        </p:nvSpPr>
        <p:spPr>
          <a:xfrm>
            <a:off x="7260336" y="3127248"/>
            <a:ext cx="1609344" cy="159105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223760" y="3090672"/>
            <a:ext cx="1609344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223760" y="3090672"/>
            <a:ext cx="1609344" cy="50292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360920" y="3227832"/>
            <a:ext cx="13350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0276"/>
                </a:solidFill>
              </a:rPr>
              <a:t>+11%
</a:t>
            </a:r>
            <a:endParaRPr lang="en-US" sz="220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3F3F3F"/>
                </a:solidFill>
              </a:rPr>
              <a:t>NAV/Share gain
</a:t>
            </a:r>
            <a:endParaRPr lang="en-US" sz="22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Since buyback Jun 2022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36A8"/>
          </a:solidFill>
          <a:ln w="12700">
            <a:solidFill>
              <a:srgbClr val="1136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pic>
        <p:nvPicPr>
          <p:cNvPr id="4" name="Image 0" descr="/Users/fcatae/exercise-2-1-teach-agent/pros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"/>
            <a:ext cx="1280160" cy="3431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914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Segments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7472" y="42062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4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FY2025 Performance Highlights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758952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758952"/>
            <a:ext cx="41148" cy="1298448"/>
          </a:xfrm>
          <a:prstGeom prst="rect">
            <a:avLst/>
          </a:prstGeom>
          <a:solidFill>
            <a:srgbClr val="FCB828"/>
          </a:solidFill>
          <a:ln w="12700">
            <a:solidFill>
              <a:srgbClr val="FCB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850392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CB828"/>
                </a:solidFill>
              </a:rPr>
              <a:t>Food Delivery — iFood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$1.3bn  (+30% local FX)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aEBIT $226m  •  EBITDA margin 19.1%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120m+ orders/month  •  56m annual users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AI: 56% customer support automated
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758952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758952"/>
            <a:ext cx="41148" cy="1298448"/>
          </a:xfrm>
          <a:prstGeom prst="rect">
            <a:avLst/>
          </a:prstGeom>
          <a:solidFill>
            <a:srgbClr val="00D3AF"/>
          </a:solidFill>
          <a:ln w="12700">
            <a:solidFill>
              <a:srgbClr val="00D3A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55848" y="850392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D3AF"/>
                </a:solidFill>
              </a:rPr>
              <a:t>Classifieds — OLX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$788m  (+18% local FX)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aEBIT $273m  •  35% margin  (+11pp)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63.6m monthly app users  •  9 markets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Motors +24%  •  Real estate +23%
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44768" y="758952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44768" y="758952"/>
            <a:ext cx="41148" cy="1298448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54496" y="850392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90276"/>
                </a:solidFill>
              </a:rPr>
              <a:t>Payments &amp; Fintech — PayU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$1.1bn  (+34% local FX)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iyzico (Turkey) aEBIT $18m  •  6% margin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India loan book $558m  •  +19% YoY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Mindgate acquisition $68m (real-time pmts)
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7472" y="2148840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" y="2148840"/>
            <a:ext cx="41148" cy="1298448"/>
          </a:xfrm>
          <a:prstGeom prst="rect">
            <a:avLst/>
          </a:prstGeom>
          <a:solidFill>
            <a:srgbClr val="FCDA28"/>
          </a:solidFill>
          <a:ln w="12700">
            <a:solidFill>
              <a:srgbClr val="FCDA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240280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CDA28"/>
                </a:solidFill>
              </a:rPr>
              <a:t>Etail — eMAG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$2.5bn  (+12%)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aEBIT $14m  (turnaround from -$26m)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Romania GMV +15%  •  EBITDA $84m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Sameday courier revenue +38%
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46120" y="2148840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46120" y="2148840"/>
            <a:ext cx="41148" cy="1298448"/>
          </a:xfrm>
          <a:prstGeom prst="rect">
            <a:avLst/>
          </a:prstGeom>
          <a:solidFill>
            <a:srgbClr val="7729E0"/>
          </a:solidFill>
          <a:ln w="12700">
            <a:solidFill>
              <a:srgbClr val="7729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55848" y="2240280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729E0"/>
                </a:solidFill>
              </a:rPr>
              <a:t>Edtech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Revenue $170m  (+15%)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aEBIT loss -$33m  (FY24: -$98m  ↑65m)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Near breakeven at cash flow level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US &amp; India workforce/K-12 focus
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44768" y="2148840"/>
            <a:ext cx="2788920" cy="1298448"/>
          </a:xfrm>
          <a:prstGeom prst="rect">
            <a:avLst/>
          </a:prstGeom>
          <a:solidFill>
            <a:srgbClr val="060F76"/>
          </a:solidFill>
          <a:ln w="6350">
            <a:solidFill>
              <a:srgbClr val="1136A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2148840"/>
            <a:ext cx="41148" cy="1298448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54496" y="2240280"/>
            <a:ext cx="26060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AC8E"/>
                </a:solidFill>
              </a:rPr>
              <a:t>Tencent — 23.5% Stake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Equity earnings $5.7bn  (+103%)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Tencent non-IFRS profit +41% YoY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WeChat 1.39bn MAU  •  Dividend $1.0bn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Planned 2025 buyback HKD80bn+
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40B5A"/>
          </a:solidFill>
          <a:ln w="12700">
            <a:solidFill>
              <a:srgbClr val="040B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143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ED4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Total permanent staff: 23,323  ·  33,246 total employees  ·  23,000+ Toqan AI users daily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5836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pic>
        <p:nvPicPr>
          <p:cNvPr id="4" name="Image 0" descr="/Users/fcatae/exercise-2-1-teach-agent/prosu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64592"/>
            <a:ext cx="1280160" cy="3431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9144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Strategy &amp; Outlook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7472" y="43891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4F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AI-First · Regional Ecosystems · Shareholder Value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7472" y="749808"/>
            <a:ext cx="2743200" cy="658368"/>
          </a:xfrm>
          <a:prstGeom prst="rect">
            <a:avLst/>
          </a:prstGeom>
          <a:solidFill>
            <a:srgbClr val="060F76"/>
          </a:solidFill>
          <a:ln w="12700">
            <a:solidFill>
              <a:srgbClr val="060F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7498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AI-FIRST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" y="1367028"/>
            <a:ext cx="2743200" cy="4114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1408176"/>
            <a:ext cx="2743200" cy="2359152"/>
          </a:xfrm>
          <a:prstGeom prst="rect">
            <a:avLst/>
          </a:prstGeom>
          <a:solidFill>
            <a:srgbClr val="F6F7F9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81328"/>
            <a:ext cx="254203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Toqan AI: 20,000+ daily users, +11% avg productivity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Large Commerce Model (LCM) in development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iFood: 56% support automated, 40% cost reduction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30+ portfolio companies deploying AI in production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156 domains + 59 trademarks + 1 patent filed FY25
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227832" y="749808"/>
            <a:ext cx="2743200" cy="658368"/>
          </a:xfrm>
          <a:prstGeom prst="rect">
            <a:avLst/>
          </a:prstGeom>
          <a:solidFill>
            <a:srgbClr val="00AC8E"/>
          </a:solidFill>
          <a:ln w="12700">
            <a:solidFill>
              <a:srgbClr val="00AC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27832" y="7498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REGIONAL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ECOSYSTEMS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27832" y="1367028"/>
            <a:ext cx="2743200" cy="41148"/>
          </a:xfrm>
          <a:prstGeom prst="rect">
            <a:avLst/>
          </a:prstGeom>
          <a:solidFill>
            <a:srgbClr val="00D3AF"/>
          </a:solidFill>
          <a:ln w="12700">
            <a:solidFill>
              <a:srgbClr val="00D3A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27832" y="1408176"/>
            <a:ext cx="2743200" cy="2359152"/>
          </a:xfrm>
          <a:prstGeom prst="rect">
            <a:avLst/>
          </a:prstGeom>
          <a:solidFill>
            <a:srgbClr val="F6F7F9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1481328"/>
            <a:ext cx="254203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LatAm: &gt;100m customers, &gt;$25bn GMV post-Despegar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iFood: 60m customers, 120m+ monthly orders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India: Swiggy, PayU, Meesho, Urban Company, Rapido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Europe: eMAG, OLX, iyzico + Just Eat (pending, €4.1bn)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Digital credit CAGR ~27% FY23–30 (India market)
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108192" y="749808"/>
            <a:ext cx="2743200" cy="658368"/>
          </a:xfrm>
          <a:prstGeom prst="rect">
            <a:avLst/>
          </a:prstGeom>
          <a:solidFill>
            <a:srgbClr val="AF015F"/>
          </a:solidFill>
          <a:ln w="12700">
            <a:solidFill>
              <a:srgbClr val="AF01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7498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SHAREHOLDER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VALUE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08192" y="1367028"/>
            <a:ext cx="2743200" cy="41148"/>
          </a:xfrm>
          <a:prstGeom prst="rect">
            <a:avLst/>
          </a:prstGeom>
          <a:solidFill>
            <a:srgbClr val="D90276"/>
          </a:solidFill>
          <a:ln w="12700">
            <a:solidFill>
              <a:srgbClr val="D9027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08192" y="1408176"/>
            <a:ext cx="2743200" cy="2359152"/>
          </a:xfrm>
          <a:prstGeom prst="rect">
            <a:avLst/>
          </a:prstGeom>
          <a:solidFill>
            <a:srgbClr val="F6F7F9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1481328"/>
            <a:ext cx="254203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Buyback: NAV/share +11% since June 2022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Free float reduced by &gt;27%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Dividend doubled to €0.20/share (FY24: €0.10)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Despegar acquired $1.7bn (closed May 2025)
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4D4D4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– Just Eat conditional €4.1bn — 17 markets, 61m users
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0" y="3886200"/>
            <a:ext cx="9144000" cy="914400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931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CB82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KEY ACQUISITIONS  FY2025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47472" y="4224528"/>
            <a:ext cx="64008" cy="109728"/>
          </a:xfrm>
          <a:prstGeom prst="rect">
            <a:avLst/>
          </a:prstGeom>
          <a:solidFill>
            <a:srgbClr val="FCDA28"/>
          </a:solidFill>
          <a:ln w="12700">
            <a:solidFill>
              <a:srgbClr val="FCDA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18795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Despegar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LatAm #1 online travel  ·  US$1.7bn  ·  Closed May 2025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47472" y="4398264"/>
            <a:ext cx="64008" cy="109728"/>
          </a:xfrm>
          <a:prstGeom prst="rect">
            <a:avLst/>
          </a:prstGeom>
          <a:solidFill>
            <a:srgbClr val="00D3AF"/>
          </a:solidFill>
          <a:ln w="12700">
            <a:solidFill>
              <a:srgbClr val="00D3A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36168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Just Eat Takeaway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EU food delivery, 17 markets, 61m customers  ·  €4.1bn  ·  Regulatory pending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47472" y="4572000"/>
            <a:ext cx="64008" cy="109728"/>
          </a:xfrm>
          <a:prstGeom prst="rect">
            <a:avLst/>
          </a:prstGeom>
          <a:solidFill>
            <a:srgbClr val="1D5EDC"/>
          </a:solidFill>
          <a:ln w="12700">
            <a:solidFill>
              <a:srgbClr val="1D5ED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53542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Mindgate Solutions  </a:t>
            </a:r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Real-time payments tech for PayU India  ·  US$68m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2026-05-31T22:45:23Z</dcterms:created>
  <dcterms:modified xsi:type="dcterms:W3CDTF">2026-05-31T22:45:23Z</dcterms:modified>
</cp:coreProperties>
</file>