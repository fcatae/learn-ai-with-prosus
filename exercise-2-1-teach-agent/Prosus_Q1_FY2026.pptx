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03520" cy="5143500"/>
          </a:xfrm>
          <a:prstGeom prst="rect">
            <a:avLst/>
          </a:prstGeom>
          <a:solidFill>
            <a:srgbClr val="060F76"/>
          </a:solidFill>
          <a:ln w="12700">
            <a:solidFill>
              <a:srgbClr val="060F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0" y="0"/>
            <a:ext cx="914400" cy="5143500"/>
          </a:xfrm>
          <a:prstGeom prst="rect">
            <a:avLst/>
          </a:prstGeom>
          <a:solidFill>
            <a:srgbClr val="1136A8"/>
          </a:solidFill>
          <a:ln w="12700">
            <a:solidFill>
              <a:srgbClr val="1136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303520" cy="64008"/>
          </a:xfrm>
          <a:prstGeom prst="rect">
            <a:avLst/>
          </a:prstGeom>
          <a:solidFill>
            <a:srgbClr val="00AC8E"/>
          </a:solidFill>
          <a:ln w="12700">
            <a:solidFill>
              <a:srgbClr val="00AC8E"/>
            </a:solidFill>
            <a:prstDash val="solid"/>
          </a:ln>
        </p:spPr>
      </p:sp>
      <p:pic>
        <p:nvPicPr>
          <p:cNvPr id="5" name="Image 0" descr="/Users/fcatae/exercise-2-1-teach-agent/prosu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164592"/>
            <a:ext cx="1280160" cy="3431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" y="10058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spc="200" kern="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PROSUS N.V.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411480" y="17830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D3A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Q1 FY2026 Trading Update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11480" y="221284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C4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Quarterly Performance Review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11480" y="2606040"/>
            <a:ext cx="2926080" cy="41148"/>
          </a:xfrm>
          <a:prstGeom prst="rect">
            <a:avLst/>
          </a:prstGeom>
          <a:solidFill>
            <a:srgbClr val="00D3AF"/>
          </a:solidFill>
          <a:ln w="12700">
            <a:solidFill>
              <a:srgbClr val="00D3A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" y="26974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ED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Quarter ended 30 June 2025  ·  All figures in USD unless stated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614416" y="950976"/>
            <a:ext cx="1572768" cy="1234440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577840" y="914400"/>
            <a:ext cx="1572768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577840" y="914400"/>
            <a:ext cx="1572768" cy="50292"/>
          </a:xfrm>
          <a:prstGeom prst="rect">
            <a:avLst/>
          </a:prstGeom>
          <a:solidFill>
            <a:srgbClr val="1D5EDC"/>
          </a:solidFill>
          <a:ln w="12700">
            <a:solidFill>
              <a:srgbClr val="1D5ED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715000" y="1051560"/>
            <a:ext cx="129844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D5EDC"/>
                </a:solidFill>
              </a:rPr>
              <a:t>$1.7bn
</a:t>
            </a:r>
            <a:endParaRPr lang="en-US" sz="2200" dirty="0"/>
          </a:p>
          <a:p>
            <a:pPr algn="l" indent="0" marL="0">
              <a:buNone/>
            </a:pPr>
            <a:r>
              <a:rPr lang="en-US" sz="850" b="1" dirty="0">
                <a:solidFill>
                  <a:srgbClr val="3F3F3F"/>
                </a:solidFill>
              </a:rPr>
              <a:t>Revenue
</a:t>
            </a:r>
            <a:endParaRPr lang="en-US" sz="22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+23% local currency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7306056" y="950976"/>
            <a:ext cx="1572768" cy="1234440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269480" y="914400"/>
            <a:ext cx="1572768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269480" y="914400"/>
            <a:ext cx="1572768" cy="50292"/>
          </a:xfrm>
          <a:prstGeom prst="rect">
            <a:avLst/>
          </a:prstGeom>
          <a:solidFill>
            <a:srgbClr val="00AC8E"/>
          </a:solidFill>
          <a:ln w="12700">
            <a:solidFill>
              <a:srgbClr val="00AC8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06640" y="1051560"/>
            <a:ext cx="129844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AC8E"/>
                </a:solidFill>
              </a:rPr>
              <a:t>$62m
</a:t>
            </a:r>
            <a:endParaRPr lang="en-US" sz="2200" dirty="0"/>
          </a:p>
          <a:p>
            <a:pPr algn="l" indent="0" marL="0">
              <a:buNone/>
            </a:pPr>
            <a:r>
              <a:rPr lang="en-US" sz="850" b="1" dirty="0">
                <a:solidFill>
                  <a:srgbClr val="3F3F3F"/>
                </a:solidFill>
              </a:rPr>
              <a:t>Group aEBIT
</a:t>
            </a:r>
            <a:endParaRPr lang="en-US" sz="22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+QoQ momentum</a:t>
            </a:r>
            <a:endParaRPr lang="en-US" sz="2200" dirty="0"/>
          </a:p>
        </p:txBody>
      </p:sp>
      <p:sp>
        <p:nvSpPr>
          <p:cNvPr id="19" name="Shape 16"/>
          <p:cNvSpPr/>
          <p:nvPr/>
        </p:nvSpPr>
        <p:spPr>
          <a:xfrm>
            <a:off x="5614416" y="2414016"/>
            <a:ext cx="1572768" cy="1234440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577840" y="2377440"/>
            <a:ext cx="1572768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577840" y="2377440"/>
            <a:ext cx="1572768" cy="50292"/>
          </a:xfrm>
          <a:prstGeom prst="rect">
            <a:avLst/>
          </a:prstGeom>
          <a:solidFill>
            <a:srgbClr val="D90276"/>
          </a:solidFill>
          <a:ln w="12700">
            <a:solidFill>
              <a:srgbClr val="D9027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715000" y="2514600"/>
            <a:ext cx="129844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90276"/>
                </a:solidFill>
              </a:rPr>
              <a:t>395m
</a:t>
            </a:r>
            <a:endParaRPr lang="en-US" sz="2200" dirty="0"/>
          </a:p>
          <a:p>
            <a:pPr algn="l" indent="0" marL="0">
              <a:buNone/>
            </a:pPr>
            <a:r>
              <a:rPr lang="en-US" sz="850" b="1" dirty="0">
                <a:solidFill>
                  <a:srgbClr val="3F3F3F"/>
                </a:solidFill>
              </a:rPr>
              <a:t>Orders (Food)
</a:t>
            </a:r>
            <a:endParaRPr lang="en-US" sz="22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+18% vs Q1 FY25</a:t>
            </a:r>
            <a:endParaRPr lang="en-US" sz="2200" dirty="0"/>
          </a:p>
        </p:txBody>
      </p:sp>
      <p:sp>
        <p:nvSpPr>
          <p:cNvPr id="23" name="Shape 20"/>
          <p:cNvSpPr/>
          <p:nvPr/>
        </p:nvSpPr>
        <p:spPr>
          <a:xfrm>
            <a:off x="7306056" y="2414016"/>
            <a:ext cx="1572768" cy="1234440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269480" y="2377440"/>
            <a:ext cx="1572768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269480" y="2377440"/>
            <a:ext cx="1572768" cy="50292"/>
          </a:xfrm>
          <a:prstGeom prst="rect">
            <a:avLst/>
          </a:prstGeom>
          <a:solidFill>
            <a:srgbClr val="FCB828"/>
          </a:solidFill>
          <a:ln w="12700">
            <a:solidFill>
              <a:srgbClr val="FCB82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406640" y="2514600"/>
            <a:ext cx="129844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CB828"/>
                </a:solidFill>
              </a:rPr>
              <a:t>$258m
</a:t>
            </a:r>
            <a:endParaRPr lang="en-US" sz="2200" dirty="0"/>
          </a:p>
          <a:p>
            <a:pPr algn="l" indent="0" marL="0">
              <a:buNone/>
            </a:pPr>
            <a:r>
              <a:rPr lang="en-US" sz="850" b="1" dirty="0">
                <a:solidFill>
                  <a:srgbClr val="3F3F3F"/>
                </a:solidFill>
              </a:rPr>
              <a:t>Free Cash Flow
</a:t>
            </a:r>
            <a:endParaRPr lang="en-US" sz="22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vs $201m Q1 FY25</a:t>
            </a:r>
            <a:endParaRPr lang="en-US" sz="2200" dirty="0"/>
          </a:p>
        </p:txBody>
      </p:sp>
      <p:sp>
        <p:nvSpPr>
          <p:cNvPr id="27" name="Shape 24"/>
          <p:cNvSpPr/>
          <p:nvPr/>
        </p:nvSpPr>
        <p:spPr>
          <a:xfrm>
            <a:off x="0" y="4668012"/>
            <a:ext cx="9144000" cy="475488"/>
          </a:xfrm>
          <a:prstGeom prst="rect">
            <a:avLst/>
          </a:prstGeom>
          <a:solidFill>
            <a:srgbClr val="191919"/>
          </a:solidFill>
          <a:ln w="12700">
            <a:solidFill>
              <a:srgbClr val="191919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65760" y="470458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AAAA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CEO: Fabricio Bloisi   ·   CFO: Nico Marais   ·   Chair: Koos Bekker   ·   Euronext Amsterdam  ·  JSE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0F76"/>
          </a:solidFill>
          <a:ln w="12700">
            <a:solidFill>
              <a:srgbClr val="060F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658368"/>
          </a:xfrm>
          <a:prstGeom prst="rect">
            <a:avLst/>
          </a:prstGeom>
          <a:solidFill>
            <a:srgbClr val="1D5EDC"/>
          </a:solidFill>
          <a:ln w="12700">
            <a:solidFill>
              <a:srgbClr val="1D5EDC"/>
            </a:solidFill>
            <a:prstDash val="solid"/>
          </a:ln>
        </p:spPr>
      </p:sp>
      <p:pic>
        <p:nvPicPr>
          <p:cNvPr id="4" name="Image 0" descr="/Users/fcatae/exercise-2-1-teach-agent/prosu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164592"/>
            <a:ext cx="1280160" cy="34318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47472" y="109728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50" kern="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Financial Performance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47472" y="438912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C4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Q1 FY2026 · Quarter ended 30 June 2025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47472" y="804672"/>
            <a:ext cx="420624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47472" y="60350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3F3F3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GROUP aEBIT QUARTERLY TREND  (US$M)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530352" y="2291669"/>
            <a:ext cx="621792" cy="661843"/>
          </a:xfrm>
          <a:prstGeom prst="rect">
            <a:avLst/>
          </a:prstGeom>
          <a:solidFill>
            <a:srgbClr val="1D5EDC"/>
          </a:solidFill>
          <a:ln w="12700">
            <a:solidFill>
              <a:srgbClr val="1D5ED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30352" y="2090501"/>
            <a:ext cx="621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5EDC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28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530352" y="2990088"/>
            <a:ext cx="621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F3F3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Q1 FY25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1335024" y="1960748"/>
            <a:ext cx="621792" cy="992764"/>
          </a:xfrm>
          <a:prstGeom prst="rect">
            <a:avLst/>
          </a:prstGeom>
          <a:solidFill>
            <a:srgbClr val="1D5EDC"/>
          </a:solidFill>
          <a:ln w="12700">
            <a:solidFill>
              <a:srgbClr val="1D5ED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335024" y="1759580"/>
            <a:ext cx="621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5EDC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42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335024" y="2990088"/>
            <a:ext cx="621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F3F3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Q2 FY25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2139696" y="1700738"/>
            <a:ext cx="621792" cy="1252774"/>
          </a:xfrm>
          <a:prstGeom prst="rect">
            <a:avLst/>
          </a:prstGeom>
          <a:solidFill>
            <a:srgbClr val="1D5EDC"/>
          </a:solidFill>
          <a:ln w="12700">
            <a:solidFill>
              <a:srgbClr val="1D5ED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139696" y="1499570"/>
            <a:ext cx="621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5EDC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53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2139696" y="2990088"/>
            <a:ext cx="621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F3F3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Q3 FY25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2944368" y="1629827"/>
            <a:ext cx="621792" cy="1323685"/>
          </a:xfrm>
          <a:prstGeom prst="rect">
            <a:avLst/>
          </a:prstGeom>
          <a:solidFill>
            <a:srgbClr val="1D5EDC"/>
          </a:solidFill>
          <a:ln w="12700">
            <a:solidFill>
              <a:srgbClr val="1D5ED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944368" y="1428659"/>
            <a:ext cx="621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5EDC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56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2944368" y="2990088"/>
            <a:ext cx="621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F3F3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Q4 FY25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3749040" y="1488003"/>
            <a:ext cx="621792" cy="1465509"/>
          </a:xfrm>
          <a:prstGeom prst="rect">
            <a:avLst/>
          </a:prstGeom>
          <a:solidFill>
            <a:srgbClr val="00AC8E"/>
          </a:solidFill>
          <a:ln w="12700">
            <a:solidFill>
              <a:srgbClr val="00AC8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749040" y="1286835"/>
            <a:ext cx="621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AC8E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62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3749040" y="2990088"/>
            <a:ext cx="621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F3F3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Q1 FY26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4828032" y="603504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3F3F3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Q1 FY2026 REVENUE MIX  (US$1.7BN)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4828032" y="804672"/>
            <a:ext cx="402336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102352" y="1024128"/>
            <a:ext cx="1285646" cy="201168"/>
          </a:xfrm>
          <a:prstGeom prst="rect">
            <a:avLst/>
          </a:prstGeom>
          <a:solidFill>
            <a:srgbClr val="060F76"/>
          </a:solidFill>
          <a:ln w="12700">
            <a:solidFill>
              <a:srgbClr val="060F7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102352" y="9692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F3F3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Etail (eMAG)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6479438" y="1014984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0F76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$628m  (37%)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5102352" y="1408176"/>
            <a:ext cx="764438" cy="201168"/>
          </a:xfrm>
          <a:prstGeom prst="rect">
            <a:avLst/>
          </a:prstGeom>
          <a:solidFill>
            <a:srgbClr val="1D5EDC"/>
          </a:solidFill>
          <a:ln w="12700">
            <a:solidFill>
              <a:srgbClr val="1D5ED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102352" y="1353312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F3F3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Payments &amp; Fintech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958230" y="139903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D5EDC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$374m  (22%)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5102352" y="1792224"/>
            <a:ext cx="729691" cy="201168"/>
          </a:xfrm>
          <a:prstGeom prst="rect">
            <a:avLst/>
          </a:prstGeom>
          <a:solidFill>
            <a:srgbClr val="00AC8E"/>
          </a:solidFill>
          <a:ln w="12700">
            <a:solidFill>
              <a:srgbClr val="00AC8E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102352" y="1737360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F3F3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Food Delivery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5923483" y="178308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AC8E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$357m  (21%)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5102352" y="2176272"/>
            <a:ext cx="451714" cy="201168"/>
          </a:xfrm>
          <a:prstGeom prst="rect">
            <a:avLst/>
          </a:prstGeom>
          <a:solidFill>
            <a:srgbClr val="FCB828"/>
          </a:solidFill>
          <a:ln w="12700">
            <a:solidFill>
              <a:srgbClr val="FCB828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102352" y="2121408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F3F3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Classifieds (OLX)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5645506" y="2167128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CB82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$221m  (13%)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5102352" y="2560320"/>
            <a:ext cx="243230" cy="201168"/>
          </a:xfrm>
          <a:prstGeom prst="rect">
            <a:avLst/>
          </a:prstGeom>
          <a:solidFill>
            <a:srgbClr val="7729E0"/>
          </a:solidFill>
          <a:ln w="12700">
            <a:solidFill>
              <a:srgbClr val="7729E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102352" y="2505456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F3F3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Other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5437022" y="255117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729E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$119m  (7%)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384048" y="3127248"/>
            <a:ext cx="1609344" cy="1591056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347472" y="3090672"/>
            <a:ext cx="1609344" cy="1591056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347472" y="3090672"/>
            <a:ext cx="1609344" cy="50292"/>
          </a:xfrm>
          <a:prstGeom prst="rect">
            <a:avLst/>
          </a:prstGeom>
          <a:solidFill>
            <a:srgbClr val="1D5EDC"/>
          </a:solidFill>
          <a:ln w="12700">
            <a:solidFill>
              <a:srgbClr val="1D5EDC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484632" y="3227832"/>
            <a:ext cx="1335024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D5EDC"/>
                </a:solidFill>
              </a:rPr>
              <a:t>+16%
</a:t>
            </a:r>
            <a:endParaRPr lang="en-US" sz="2200" dirty="0"/>
          </a:p>
          <a:p>
            <a:pPr algn="l" indent="0" marL="0">
              <a:buNone/>
            </a:pPr>
            <a:r>
              <a:rPr lang="en-US" sz="850" b="1" dirty="0">
                <a:solidFill>
                  <a:srgbClr val="3F3F3F"/>
                </a:solidFill>
              </a:rPr>
              <a:t>Revenue Growth
</a:t>
            </a:r>
            <a:endParaRPr lang="en-US" sz="22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+23% local currency</a:t>
            </a:r>
            <a:endParaRPr lang="en-US" sz="2200" dirty="0"/>
          </a:p>
        </p:txBody>
      </p:sp>
      <p:sp>
        <p:nvSpPr>
          <p:cNvPr id="45" name="Shape 42"/>
          <p:cNvSpPr/>
          <p:nvPr/>
        </p:nvSpPr>
        <p:spPr>
          <a:xfrm>
            <a:off x="2103120" y="3127248"/>
            <a:ext cx="1609344" cy="1591056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2066544" y="3090672"/>
            <a:ext cx="1609344" cy="1591056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2066544" y="3090672"/>
            <a:ext cx="1609344" cy="50292"/>
          </a:xfrm>
          <a:prstGeom prst="rect">
            <a:avLst/>
          </a:prstGeom>
          <a:solidFill>
            <a:srgbClr val="00AC8E"/>
          </a:solidFill>
          <a:ln w="12700">
            <a:solidFill>
              <a:srgbClr val="00AC8E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2203704" y="3227832"/>
            <a:ext cx="1335024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AC8E"/>
                </a:solidFill>
              </a:rPr>
              <a:t>3.6%
</a:t>
            </a:r>
            <a:endParaRPr lang="en-US" sz="2200" dirty="0"/>
          </a:p>
          <a:p>
            <a:pPr algn="l" indent="0" marL="0">
              <a:buNone/>
            </a:pPr>
            <a:r>
              <a:rPr lang="en-US" sz="850" b="1" dirty="0">
                <a:solidFill>
                  <a:srgbClr val="3F3F3F"/>
                </a:solidFill>
              </a:rPr>
              <a:t>aEBIT Margin
</a:t>
            </a:r>
            <a:endParaRPr lang="en-US" sz="22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vs 1.9% Q1 FY25</a:t>
            </a:r>
            <a:endParaRPr lang="en-US" sz="2200" dirty="0"/>
          </a:p>
        </p:txBody>
      </p:sp>
      <p:sp>
        <p:nvSpPr>
          <p:cNvPr id="49" name="Shape 46"/>
          <p:cNvSpPr/>
          <p:nvPr/>
        </p:nvSpPr>
        <p:spPr>
          <a:xfrm>
            <a:off x="3822192" y="3127248"/>
            <a:ext cx="1609344" cy="1591056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3785616" y="3090672"/>
            <a:ext cx="1609344" cy="1591056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3785616" y="3090672"/>
            <a:ext cx="1609344" cy="50292"/>
          </a:xfrm>
          <a:prstGeom prst="rect">
            <a:avLst/>
          </a:prstGeom>
          <a:solidFill>
            <a:srgbClr val="3F3F3F"/>
          </a:solidFill>
          <a:ln w="12700">
            <a:solidFill>
              <a:srgbClr val="3F3F3F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3922776" y="3227832"/>
            <a:ext cx="1335024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F3F3F"/>
                </a:solidFill>
              </a:rPr>
              <a:t>$2.4bn
</a:t>
            </a:r>
            <a:endParaRPr lang="en-US" sz="2200" dirty="0"/>
          </a:p>
          <a:p>
            <a:pPr algn="l" indent="0" marL="0">
              <a:buNone/>
            </a:pPr>
            <a:r>
              <a:rPr lang="en-US" sz="850" b="1" dirty="0">
                <a:solidFill>
                  <a:srgbClr val="3F3F3F"/>
                </a:solidFill>
              </a:rPr>
              <a:t>Net Cash
</a:t>
            </a:r>
            <a:endParaRPr lang="en-US" sz="22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Post Despegar close</a:t>
            </a:r>
            <a:endParaRPr lang="en-US" sz="2200" dirty="0"/>
          </a:p>
        </p:txBody>
      </p:sp>
      <p:sp>
        <p:nvSpPr>
          <p:cNvPr id="53" name="Shape 50"/>
          <p:cNvSpPr/>
          <p:nvPr/>
        </p:nvSpPr>
        <p:spPr>
          <a:xfrm>
            <a:off x="5541264" y="3127248"/>
            <a:ext cx="1609344" cy="1591056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5504688" y="3090672"/>
            <a:ext cx="1609344" cy="1591056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5504688" y="3090672"/>
            <a:ext cx="1609344" cy="50292"/>
          </a:xfrm>
          <a:prstGeom prst="rect">
            <a:avLst/>
          </a:prstGeom>
          <a:solidFill>
            <a:srgbClr val="FCB828"/>
          </a:solidFill>
          <a:ln w="12700">
            <a:solidFill>
              <a:srgbClr val="FCB828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5641848" y="3227832"/>
            <a:ext cx="1335024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CB828"/>
                </a:solidFill>
              </a:rPr>
              <a:t>+18%
</a:t>
            </a:r>
            <a:endParaRPr lang="en-US" sz="2200" dirty="0"/>
          </a:p>
          <a:p>
            <a:pPr algn="l" indent="0" marL="0">
              <a:buNone/>
            </a:pPr>
            <a:r>
              <a:rPr lang="en-US" sz="850" b="1" dirty="0">
                <a:solidFill>
                  <a:srgbClr val="3F3F3F"/>
                </a:solidFill>
              </a:rPr>
              <a:t>Orders Growth
</a:t>
            </a:r>
            <a:endParaRPr lang="en-US" sz="22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Food delivery Q1 FY26</a:t>
            </a:r>
            <a:endParaRPr lang="en-US" sz="2200" dirty="0"/>
          </a:p>
        </p:txBody>
      </p:sp>
      <p:sp>
        <p:nvSpPr>
          <p:cNvPr id="57" name="Shape 54"/>
          <p:cNvSpPr/>
          <p:nvPr/>
        </p:nvSpPr>
        <p:spPr>
          <a:xfrm>
            <a:off x="7260336" y="3127248"/>
            <a:ext cx="1609344" cy="1591056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7223760" y="3090672"/>
            <a:ext cx="1609344" cy="1591056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7223760" y="3090672"/>
            <a:ext cx="1609344" cy="50292"/>
          </a:xfrm>
          <a:prstGeom prst="rect">
            <a:avLst/>
          </a:prstGeom>
          <a:solidFill>
            <a:srgbClr val="D90276"/>
          </a:solidFill>
          <a:ln w="12700">
            <a:solidFill>
              <a:srgbClr val="D90276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7360920" y="3227832"/>
            <a:ext cx="1335024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90276"/>
                </a:solidFill>
              </a:rPr>
              <a:t>$320m
</a:t>
            </a:r>
            <a:endParaRPr lang="en-US" sz="2200" dirty="0"/>
          </a:p>
          <a:p>
            <a:pPr algn="l" indent="0" marL="0">
              <a:buNone/>
            </a:pPr>
            <a:r>
              <a:rPr lang="en-US" sz="850" b="1" dirty="0">
                <a:solidFill>
                  <a:srgbClr val="3F3F3F"/>
                </a:solidFill>
              </a:rPr>
              <a:t>Buyback Q1
</a:t>
            </a:r>
            <a:endParaRPr lang="en-US" sz="22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Cumulative $8.1bn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F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36A8"/>
          </a:solidFill>
          <a:ln w="12700">
            <a:solidFill>
              <a:srgbClr val="1136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C8E"/>
          </a:solidFill>
          <a:ln w="12700">
            <a:solidFill>
              <a:srgbClr val="00AC8E"/>
            </a:solidFill>
            <a:prstDash val="solid"/>
          </a:ln>
        </p:spPr>
      </p:sp>
      <p:pic>
        <p:nvPicPr>
          <p:cNvPr id="4" name="Image 0" descr="/Users/fcatae/exercise-2-1-teach-agent/prosu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164592"/>
            <a:ext cx="1280160" cy="34318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47472" y="91440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50" kern="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Business Segments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47472" y="420624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C4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Q1 FY2026 Performance Highlights  ·  Quarter ended 30 June 2025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47472" y="758952"/>
            <a:ext cx="2788920" cy="1298448"/>
          </a:xfrm>
          <a:prstGeom prst="rect">
            <a:avLst/>
          </a:prstGeom>
          <a:solidFill>
            <a:srgbClr val="060F76"/>
          </a:solidFill>
          <a:ln w="6350">
            <a:solidFill>
              <a:srgbClr val="1136A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47472" y="758952"/>
            <a:ext cx="41148" cy="1298448"/>
          </a:xfrm>
          <a:prstGeom prst="rect">
            <a:avLst/>
          </a:prstGeom>
          <a:solidFill>
            <a:srgbClr val="FCB828"/>
          </a:solidFill>
          <a:ln w="12700">
            <a:solidFill>
              <a:srgbClr val="FCB82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850392"/>
            <a:ext cx="2606040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CB828"/>
                </a:solidFill>
              </a:rPr>
              <a:t>Food Delivery — iFood
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Revenue $357m  (+28% local FX)
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aEBIT $68m  •  EBITDA margin 21%
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395m orders  •  +18% YoY growth
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Despegar travel bundle pilot launched
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46120" y="758952"/>
            <a:ext cx="2788920" cy="1298448"/>
          </a:xfrm>
          <a:prstGeom prst="rect">
            <a:avLst/>
          </a:prstGeom>
          <a:solidFill>
            <a:srgbClr val="060F76"/>
          </a:solidFill>
          <a:ln w="6350">
            <a:solidFill>
              <a:srgbClr val="1136A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46120" y="758952"/>
            <a:ext cx="41148" cy="1298448"/>
          </a:xfrm>
          <a:prstGeom prst="rect">
            <a:avLst/>
          </a:prstGeom>
          <a:solidFill>
            <a:srgbClr val="00D3AF"/>
          </a:solidFill>
          <a:ln w="12700">
            <a:solidFill>
              <a:srgbClr val="00D3A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355848" y="850392"/>
            <a:ext cx="2606040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0D3AF"/>
                </a:solidFill>
              </a:rPr>
              <a:t>Classifieds — OLX
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Revenue $221m  (+19% local FX)
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aEBIT $81m  •  37% margin  (+3pp)
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67m monthly app users  •  9 markets
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AI-powered listings: 38% uplift in CTR
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144768" y="758952"/>
            <a:ext cx="2788920" cy="1298448"/>
          </a:xfrm>
          <a:prstGeom prst="rect">
            <a:avLst/>
          </a:prstGeom>
          <a:solidFill>
            <a:srgbClr val="060F76"/>
          </a:solidFill>
          <a:ln w="6350">
            <a:solidFill>
              <a:srgbClr val="1136A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144768" y="758952"/>
            <a:ext cx="41148" cy="1298448"/>
          </a:xfrm>
          <a:prstGeom prst="rect">
            <a:avLst/>
          </a:prstGeom>
          <a:solidFill>
            <a:srgbClr val="D90276"/>
          </a:solidFill>
          <a:ln w="12700">
            <a:solidFill>
              <a:srgbClr val="D9027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54496" y="850392"/>
            <a:ext cx="2606040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D90276"/>
                </a:solidFill>
              </a:rPr>
              <a:t>Payments &amp; Fintech — PayU
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Revenue $374m  (+31% local FX)
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iyzico Turkey: aEBIT $5m  •  Q1 seasonal
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India loan book $612m  •  +10% QoQ
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Mindgate integration on track
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47472" y="2148840"/>
            <a:ext cx="2788920" cy="1298448"/>
          </a:xfrm>
          <a:prstGeom prst="rect">
            <a:avLst/>
          </a:prstGeom>
          <a:solidFill>
            <a:srgbClr val="060F76"/>
          </a:solidFill>
          <a:ln w="6350">
            <a:solidFill>
              <a:srgbClr val="1136A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47472" y="2148840"/>
            <a:ext cx="41148" cy="1298448"/>
          </a:xfrm>
          <a:prstGeom prst="rect">
            <a:avLst/>
          </a:prstGeom>
          <a:solidFill>
            <a:srgbClr val="FCDA28"/>
          </a:solidFill>
          <a:ln w="12700">
            <a:solidFill>
              <a:srgbClr val="FCDA2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2240280"/>
            <a:ext cx="2606040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CDA28"/>
                </a:solidFill>
              </a:rPr>
              <a:t>Etail — eMAG
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Revenue $628m  (+14%)
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aEBIT $8m  (continued turnaround)
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Romania logistics: Sameday +42% revenue
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Bulgaria &amp; Hungary GMV +19%
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246120" y="2148840"/>
            <a:ext cx="2788920" cy="1298448"/>
          </a:xfrm>
          <a:prstGeom prst="rect">
            <a:avLst/>
          </a:prstGeom>
          <a:solidFill>
            <a:srgbClr val="060F76"/>
          </a:solidFill>
          <a:ln w="6350">
            <a:solidFill>
              <a:srgbClr val="1136A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246120" y="2148840"/>
            <a:ext cx="41148" cy="1298448"/>
          </a:xfrm>
          <a:prstGeom prst="rect">
            <a:avLst/>
          </a:prstGeom>
          <a:solidFill>
            <a:srgbClr val="7729E0"/>
          </a:solidFill>
          <a:ln w="12700">
            <a:solidFill>
              <a:srgbClr val="7729E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355848" y="2240280"/>
            <a:ext cx="2606040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7729E0"/>
                </a:solidFill>
              </a:rPr>
              <a:t>Travel — Despegar
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First full quarter post-acquisition
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Revenue $98m  ·  GMV $1.2bn
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LatAm #1 OTA  ·  12 markets
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iFood x Despegar bundle synergy live
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144768" y="2148840"/>
            <a:ext cx="2788920" cy="1298448"/>
          </a:xfrm>
          <a:prstGeom prst="rect">
            <a:avLst/>
          </a:prstGeom>
          <a:solidFill>
            <a:srgbClr val="060F76"/>
          </a:solidFill>
          <a:ln w="6350">
            <a:solidFill>
              <a:srgbClr val="1136A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144768" y="2148840"/>
            <a:ext cx="41148" cy="1298448"/>
          </a:xfrm>
          <a:prstGeom prst="rect">
            <a:avLst/>
          </a:prstGeom>
          <a:solidFill>
            <a:srgbClr val="00AC8E"/>
          </a:solidFill>
          <a:ln w="12700">
            <a:solidFill>
              <a:srgbClr val="00AC8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254496" y="2240280"/>
            <a:ext cx="2606040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0AC8E"/>
                </a:solidFill>
              </a:rPr>
              <a:t>Tencent — 23.5% Stake
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Equity earnings est. ~$1.5bn Q1
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WeChat 1.40bn MAU  •  +0.7% QoQ
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Non-IFRS profit momentum continues
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Buyback HKD80bn+ programme ongoing
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040B5A"/>
          </a:solidFill>
          <a:ln w="12700">
            <a:solidFill>
              <a:srgbClr val="040B5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65760" y="4814316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ED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Just Eat Takeaway integration pending regulatory approval  ·  Despegar fully consolidated from May 2025  ·  Toqan AI: 25,000+ daily users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0F76"/>
          </a:solidFill>
          <a:ln w="12700">
            <a:solidFill>
              <a:srgbClr val="060F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658368"/>
          </a:xfrm>
          <a:prstGeom prst="rect">
            <a:avLst/>
          </a:prstGeom>
          <a:solidFill>
            <a:srgbClr val="1D5EDC"/>
          </a:solidFill>
          <a:ln w="12700">
            <a:solidFill>
              <a:srgbClr val="1D5EDC"/>
            </a:solidFill>
            <a:prstDash val="solid"/>
          </a:ln>
        </p:spPr>
      </p:sp>
      <p:pic>
        <p:nvPicPr>
          <p:cNvPr id="4" name="Image 0" descr="/Users/fcatae/exercise-2-1-teach-agent/prosu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164592"/>
            <a:ext cx="1280160" cy="34318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47472" y="91440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50" kern="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Outlook &amp; Priorities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47472" y="438912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C4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FY2026 Roadmap  ·  AI-First · Ecosystem Integration · Capital Returns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47472" y="749808"/>
            <a:ext cx="2743200" cy="658368"/>
          </a:xfrm>
          <a:prstGeom prst="rect">
            <a:avLst/>
          </a:prstGeom>
          <a:solidFill>
            <a:srgbClr val="060F76"/>
          </a:solidFill>
          <a:ln w="12700">
            <a:solidFill>
              <a:srgbClr val="060F7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47472" y="749808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AI-FIRST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SCALE-UP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7472" y="1367028"/>
            <a:ext cx="2743200" cy="41148"/>
          </a:xfrm>
          <a:prstGeom prst="rect">
            <a:avLst/>
          </a:prstGeom>
          <a:solidFill>
            <a:srgbClr val="1D5EDC"/>
          </a:solidFill>
          <a:ln w="12700">
            <a:solidFill>
              <a:srgbClr val="1D5ED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7472" y="1408176"/>
            <a:ext cx="2743200" cy="2359152"/>
          </a:xfrm>
          <a:prstGeom prst="rect">
            <a:avLst/>
          </a:prstGeom>
          <a:solidFill>
            <a:srgbClr val="F6F7F9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481328"/>
            <a:ext cx="2542032" cy="2212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4D4D4D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– Toqan AI: target 40,000 daily users by Q3 FY26
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4D4D4D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– Large Commerce Model (LCM): beta Q2 FY26
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4D4D4D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– iFood: 70%+ support automation target FY26
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4D4D4D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– OLX AI listings: roll-out to 6 additional markets
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4D4D4D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– PayU: real-time fraud detection via Mindgate AI
</a:t>
            </a:r>
            <a:endParaRPr lang="en-US" sz="880" dirty="0"/>
          </a:p>
        </p:txBody>
      </p:sp>
      <p:sp>
        <p:nvSpPr>
          <p:cNvPr id="12" name="Shape 9"/>
          <p:cNvSpPr/>
          <p:nvPr/>
        </p:nvSpPr>
        <p:spPr>
          <a:xfrm>
            <a:off x="3227832" y="749808"/>
            <a:ext cx="2743200" cy="658368"/>
          </a:xfrm>
          <a:prstGeom prst="rect">
            <a:avLst/>
          </a:prstGeom>
          <a:solidFill>
            <a:srgbClr val="00AC8E"/>
          </a:solidFill>
          <a:ln w="12700">
            <a:solidFill>
              <a:srgbClr val="00AC8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27832" y="749808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ECOSYSTEM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INTEGRATION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3227832" y="1367028"/>
            <a:ext cx="2743200" cy="41148"/>
          </a:xfrm>
          <a:prstGeom prst="rect">
            <a:avLst/>
          </a:prstGeom>
          <a:solidFill>
            <a:srgbClr val="00D3AF"/>
          </a:solidFill>
          <a:ln w="12700">
            <a:solidFill>
              <a:srgbClr val="00D3A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27832" y="1408176"/>
            <a:ext cx="2743200" cy="2359152"/>
          </a:xfrm>
          <a:prstGeom prst="rect">
            <a:avLst/>
          </a:prstGeom>
          <a:solidFill>
            <a:srgbClr val="F6F7F9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337560" y="1481328"/>
            <a:ext cx="2542032" cy="2212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4D4D4D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– Despegar x iFood: LatAm super-app bundle
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4D4D4D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– Just Eat Takeaway: EU approval expected Q2 FY26
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4D4D4D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– PayU x Despegar: travel payment checkout
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4D4D4D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– OLX Autos: expansion into 3 new LatAm markets
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4D4D4D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– eMAG x Sameday: same-day pan-Europe pilot
</a:t>
            </a:r>
            <a:endParaRPr lang="en-US" sz="880" dirty="0"/>
          </a:p>
        </p:txBody>
      </p:sp>
      <p:sp>
        <p:nvSpPr>
          <p:cNvPr id="17" name="Shape 14"/>
          <p:cNvSpPr/>
          <p:nvPr/>
        </p:nvSpPr>
        <p:spPr>
          <a:xfrm>
            <a:off x="6108192" y="749808"/>
            <a:ext cx="2743200" cy="658368"/>
          </a:xfrm>
          <a:prstGeom prst="rect">
            <a:avLst/>
          </a:prstGeom>
          <a:solidFill>
            <a:srgbClr val="AF015F"/>
          </a:solidFill>
          <a:ln w="12700">
            <a:solidFill>
              <a:srgbClr val="AF015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08192" y="749808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CAPITAL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RETURNS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108192" y="1367028"/>
            <a:ext cx="2743200" cy="41148"/>
          </a:xfrm>
          <a:prstGeom prst="rect">
            <a:avLst/>
          </a:prstGeom>
          <a:solidFill>
            <a:srgbClr val="D90276"/>
          </a:solidFill>
          <a:ln w="12700">
            <a:solidFill>
              <a:srgbClr val="D9027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108192" y="1408176"/>
            <a:ext cx="2743200" cy="2359152"/>
          </a:xfrm>
          <a:prstGeom prst="rect">
            <a:avLst/>
          </a:prstGeom>
          <a:solidFill>
            <a:srgbClr val="F6F7F9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17920" y="1481328"/>
            <a:ext cx="2542032" cy="2212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4D4D4D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– Buyback target: &gt;$1.5bn in FY26
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4D4D4D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– Dividend maintained at ≥€0.20/share
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4D4D4D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– NAV/share target: +15% by FY26 year-end
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4D4D4D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– Tencent dividend reinvestment: $1.0bn deployed
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4D4D4D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– Non-core asset review ongoing (EdTech optionality)
</a:t>
            </a:r>
            <a:endParaRPr lang="en-US" sz="880" dirty="0"/>
          </a:p>
        </p:txBody>
      </p:sp>
      <p:sp>
        <p:nvSpPr>
          <p:cNvPr id="22" name="Shape 19"/>
          <p:cNvSpPr/>
          <p:nvPr/>
        </p:nvSpPr>
        <p:spPr>
          <a:xfrm>
            <a:off x="0" y="3886200"/>
            <a:ext cx="9144000" cy="914400"/>
          </a:xfrm>
          <a:prstGeom prst="rect">
            <a:avLst/>
          </a:prstGeom>
          <a:solidFill>
            <a:srgbClr val="191919"/>
          </a:solidFill>
          <a:ln w="12700">
            <a:solidFill>
              <a:srgbClr val="19191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47472" y="39319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FCB82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FY2026 GUIDANCE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347472" y="4224528"/>
            <a:ext cx="64008" cy="109728"/>
          </a:xfrm>
          <a:prstGeom prst="rect">
            <a:avLst/>
          </a:prstGeom>
          <a:solidFill>
            <a:srgbClr val="FCDA28"/>
          </a:solidFill>
          <a:ln w="12700">
            <a:solidFill>
              <a:srgbClr val="FCDA2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02920" y="4187952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Full-year Revenue  </a:t>
            </a:r>
            <a:pPr indent="0" marL="0">
              <a:buNone/>
            </a:pPr>
            <a:r>
              <a:rPr lang="en-US" sz="850" dirty="0">
                <a:solidFill>
                  <a:srgbClr val="AAAAA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~$7.5–7.7bn  ·  +21–24% local currency growth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47472" y="4398264"/>
            <a:ext cx="64008" cy="109728"/>
          </a:xfrm>
          <a:prstGeom prst="rect">
            <a:avLst/>
          </a:prstGeom>
          <a:solidFill>
            <a:srgbClr val="00D3AF"/>
          </a:solidFill>
          <a:ln w="12700">
            <a:solidFill>
              <a:srgbClr val="00D3A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02920" y="4361688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Full-year aEBIT  </a:t>
            </a:r>
            <a:pPr indent="0" marL="0">
              <a:buNone/>
            </a:pPr>
            <a:r>
              <a:rPr lang="en-US" sz="850" dirty="0">
                <a:solidFill>
                  <a:srgbClr val="AAAAA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~$280–310m  ·  continued margin expansion across all segments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347472" y="4572000"/>
            <a:ext cx="64008" cy="109728"/>
          </a:xfrm>
          <a:prstGeom prst="rect">
            <a:avLst/>
          </a:prstGeom>
          <a:solidFill>
            <a:srgbClr val="1D5EDC"/>
          </a:solidFill>
          <a:ln w="12700">
            <a:solidFill>
              <a:srgbClr val="1D5ED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02920" y="4535424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Just Eat Takeaway  </a:t>
            </a:r>
            <a:pPr indent="0" marL="0">
              <a:buNone/>
            </a:pPr>
            <a:r>
              <a:rPr lang="en-US" sz="850" dirty="0">
                <a:solidFill>
                  <a:srgbClr val="AAAAA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Integration proceeds post-regulatory close  ·  €4.1bn deal value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2026-05-31T22:59:23Z</dcterms:created>
  <dcterms:modified xsi:type="dcterms:W3CDTF">2026-05-31T22:59:23Z</dcterms:modified>
</cp:coreProperties>
</file>